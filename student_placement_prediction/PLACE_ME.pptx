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F49F2-8064-47D0-BD2B-F6CE12F44920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F61F9-4832-4663-AA80-C3A4B92624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77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F61F9-4832-4663-AA80-C3A4B92624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56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C68FA-ED7B-6B71-FB3D-A36524D39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89597-570A-4093-E824-D1C1CB16E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C5B9-816B-9B91-95B3-98BD70A07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7644A-8433-A174-8C48-3B4D0D17D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E68EE-754C-9EC5-0E73-FED84D51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018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4947-C19A-AED0-0B01-E2C5F006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B3C5-8F1B-8566-11D4-9D3AC0168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6F7F3-D464-52B5-7B66-7CB48EBA8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5EF42-4EAE-679A-D1EF-C7FA9225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6282C-B531-95E6-E775-2E885109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208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372A4-7842-E41B-7352-B1868FCAD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5D998-27C8-D7FE-112F-4E8B2BB63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D3989-A00B-EF9F-AE31-D840C372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DF7E1-B457-A7A8-5103-54ADE9D9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97D94-BBCF-717E-BDEF-55859AD3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61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B01A-E879-FACF-B03A-5CB29473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B181D-E285-4394-508B-DEF2DF865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70C6DE-A2C9-F812-1463-81AFC2AB4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261B6-892D-808F-569D-865C6B491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C70E0-5350-FDF0-1719-DB19904B1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2278D-CA53-37DE-2349-571ED253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86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82104-B246-8584-2F19-AE726B2ED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83007-E96E-772A-89DA-FB47D6367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43EA1-02CD-6E04-8ED6-52B3F1DED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FFAF84-A267-DECF-363A-1774C6AB0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54902-DEB2-4CD7-1C22-F66F3DB07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B046A6-847B-D274-D526-5D38BE34F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90847-ABFF-9BCA-962F-4521B0ED4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10A3DD-6BE4-5E49-CF51-01254B89E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3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8FC6-ACF5-2D04-9926-F2E4E064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28D80-17F2-BB53-A23F-B31071AB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24C974-16F0-75D5-D01A-1FEC5DB1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CE8A8-44C1-BFB7-CF49-56EC831B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04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82DF5-5874-7E12-9133-CFB6F6D17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31F18-9009-47CB-3B97-AEE493FF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4AFA2-3E4A-E5F3-8DC4-D1CF0621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90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CC90-2EEB-8E53-7A9D-60A936B9C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CA15C-F1C3-E555-97AA-118821DEB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549B5-93B3-85C0-A28E-7D455A110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36AFD-795F-BFD7-3AAC-0DBDDD1A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CD7E5-5BB1-67F7-6138-AED2005B0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7301E-861B-C1A9-EC3F-6B7109D1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17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5588-B95F-758B-F893-BA789F40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38C882-2A48-D0A4-2624-49233F1223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EBABA-AD4F-1AB5-C330-9092C53F7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80D00-54B8-2538-2C9B-92BA8AEDF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9750-0BAB-31EC-5217-CB55BE3E7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AFC4E-F8CC-255E-1B63-44AD9A03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23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29F51-1940-4C2B-DB00-68D0AB1F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14CC0-DA5E-FD05-FA9B-99880A1A7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1E877-B922-12BE-452D-8FD493F3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0FCB9-8455-FF2F-41D2-1FF193DA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435C2-3D43-D29B-9EA2-0B3BD317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82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0F4DA9-DDF6-9740-6594-B8C56D7DC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DF521B-03D6-1F17-19A0-142569E1E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8D87F-F1B9-BF30-9B49-623D42EA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09A7-3530-739D-148A-7995DA06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14B06-03F4-B600-BF4A-C948EBEB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464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C9E848-F720-DDF5-B35F-BAB982F9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EE570-4B9E-D05E-1EB4-4C137FFF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3AB24-38BC-B013-1FBF-4EFED18A5C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CD5F1-6167-4EF5-A8B1-CF3C12E15DD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CF549-F54B-6D8C-28EA-103D5B026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41968-B549-81B3-3042-A4B18D3A7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81BA5-FE20-45CA-81D9-54990117FA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3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Krooz/Campus_Recruitment_CS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6450-4CA9-708B-B0F4-38D4E2416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Intelligent Student Placement Prediction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E50FB5-E688-803D-1E6D-A2A35262F9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AI-powered placement prediction and guidance tool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students and educators make informed decisions</a:t>
            </a:r>
          </a:p>
        </p:txBody>
      </p:sp>
    </p:spTree>
    <p:extLst>
      <p:ext uri="{BB962C8B-B14F-4D97-AF65-F5344CB8AC3E}">
        <p14:creationId xmlns:p14="http://schemas.microsoft.com/office/powerpoint/2010/main" val="104848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DBAC29-D5E8-AE57-B1FA-E5983301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45DF7FE-960E-0B77-B1A5-4A742C2000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484" y="1929217"/>
            <a:ext cx="942874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whether a student will be placed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placement probability percentage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 suitable job roles based on skills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teachers to analyze batch data</a:t>
            </a:r>
          </a:p>
        </p:txBody>
      </p:sp>
    </p:spTree>
    <p:extLst>
      <p:ext uri="{BB962C8B-B14F-4D97-AF65-F5344CB8AC3E}">
        <p14:creationId xmlns:p14="http://schemas.microsoft.com/office/powerpoint/2010/main" val="1550400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1436-E668-45B7-640D-F5338725B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6064C0-F27A-7D48-D4CA-EAF5B91E4C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8266"/>
            <a:ext cx="8430513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face uncertainty in placement readiness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systematic evaluation based on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tool to estimate job-role fit for 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evaluations are inconsistent and subjective</a:t>
            </a:r>
          </a:p>
        </p:txBody>
      </p:sp>
    </p:spTree>
    <p:extLst>
      <p:ext uri="{BB962C8B-B14F-4D97-AF65-F5344CB8AC3E}">
        <p14:creationId xmlns:p14="http://schemas.microsoft.com/office/powerpoint/2010/main" val="84868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CB8F9-2B0D-3C21-1326-AEB24910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5453"/>
            <a:ext cx="10515600" cy="1395663"/>
          </a:xfrm>
        </p:spPr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14CE2D-EE2D-4C61-1F29-D2D62AE66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1004794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Campus Recruitment Dataset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https://huggingface.co/datasets/Krooz/Campus_Recruitment_CSV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had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7225+ student records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Included academic scores, skill ratings, and placement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Divided into train/test/validation splits</a:t>
            </a:r>
          </a:p>
        </p:txBody>
      </p:sp>
    </p:spTree>
    <p:extLst>
      <p:ext uri="{BB962C8B-B14F-4D97-AF65-F5344CB8AC3E}">
        <p14:creationId xmlns:p14="http://schemas.microsoft.com/office/powerpoint/2010/main" val="3117171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156F0-9D2A-FF19-57CB-B3FCAA58F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Original Dataset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4C080-0233-BBF4-A29F-5FFAFFB7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32"/>
            <a:ext cx="10515600" cy="471713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following features were </a:t>
            </a:r>
            <a:r>
              <a:rPr lang="en-US" b="1" dirty="0"/>
              <a:t>already present in the dataset</a:t>
            </a:r>
            <a:r>
              <a:rPr lang="en-US" dirty="0"/>
              <a:t>:</a:t>
            </a:r>
          </a:p>
          <a:p>
            <a:r>
              <a:rPr lang="en-US" dirty="0"/>
              <a:t>Academic &amp; Skill Attributes:</a:t>
            </a:r>
          </a:p>
          <a:p>
            <a:r>
              <a:rPr lang="en-US" dirty="0"/>
              <a:t>CGPA</a:t>
            </a:r>
          </a:p>
          <a:p>
            <a:r>
              <a:rPr lang="en-US" dirty="0" err="1"/>
              <a:t>Internship_Experience</a:t>
            </a:r>
            <a:endParaRPr lang="en-US" dirty="0"/>
          </a:p>
          <a:p>
            <a:r>
              <a:rPr lang="en-US" dirty="0"/>
              <a:t>Projects</a:t>
            </a:r>
          </a:p>
          <a:p>
            <a:r>
              <a:rPr lang="en-US" dirty="0"/>
              <a:t>Certifications</a:t>
            </a:r>
          </a:p>
          <a:p>
            <a:r>
              <a:rPr lang="en-US" dirty="0" err="1"/>
              <a:t>AptitudeTestScore</a:t>
            </a:r>
            <a:endParaRPr lang="en-US" dirty="0"/>
          </a:p>
          <a:p>
            <a:r>
              <a:rPr lang="en-US" dirty="0" err="1"/>
              <a:t>Communication_Skills</a:t>
            </a:r>
            <a:endParaRPr lang="en-US" dirty="0"/>
          </a:p>
          <a:p>
            <a:r>
              <a:rPr lang="en-US" dirty="0" err="1"/>
              <a:t>Technical_Skills</a:t>
            </a:r>
            <a:endParaRPr lang="en-US" dirty="0"/>
          </a:p>
          <a:p>
            <a:r>
              <a:rPr lang="en-US" dirty="0"/>
              <a:t>Target Variables:</a:t>
            </a:r>
          </a:p>
          <a:p>
            <a:r>
              <a:rPr lang="en-US" dirty="0" err="1"/>
              <a:t>Placement_Status</a:t>
            </a:r>
            <a:r>
              <a:rPr lang="en-US" dirty="0"/>
              <a:t> (Placed / Not Placed)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75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2E10-F9AC-BD08-D7C7-EEBCC0684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Added During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F510-D968-BBD7-A439-6F6A012A7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537"/>
            <a:ext cx="10515600" cy="5145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following features were </a:t>
            </a:r>
            <a:r>
              <a:rPr lang="en-US" b="1" dirty="0"/>
              <a:t>created or refined during preprocessing</a:t>
            </a:r>
            <a:r>
              <a:rPr lang="en-US" dirty="0"/>
              <a:t> to improve model learning and job-role evaluation:</a:t>
            </a:r>
          </a:p>
          <a:p>
            <a:r>
              <a:rPr lang="en-US" b="1" dirty="0" err="1"/>
              <a:t>Placement_Label</a:t>
            </a:r>
            <a:endParaRPr lang="en-US" dirty="0"/>
          </a:p>
          <a:p>
            <a:pPr lvl="1"/>
            <a:r>
              <a:rPr lang="en-US" dirty="0"/>
              <a:t>Converted placement status into numeric form</a:t>
            </a:r>
          </a:p>
          <a:p>
            <a:pPr lvl="1"/>
            <a:r>
              <a:rPr lang="en-US" dirty="0"/>
              <a:t>Placed → 1</a:t>
            </a:r>
          </a:p>
          <a:p>
            <a:pPr lvl="1"/>
            <a:r>
              <a:rPr lang="en-US" dirty="0"/>
              <a:t>Not Placed → 0</a:t>
            </a:r>
          </a:p>
          <a:p>
            <a:r>
              <a:rPr lang="en-US" b="1" dirty="0" err="1"/>
              <a:t>Internship_Flag</a:t>
            </a:r>
            <a:endParaRPr lang="en-US" dirty="0"/>
          </a:p>
          <a:p>
            <a:pPr lvl="1"/>
            <a:r>
              <a:rPr lang="en-US" dirty="0"/>
              <a:t>Indicates practical industry exposure</a:t>
            </a:r>
          </a:p>
          <a:p>
            <a:pPr lvl="1"/>
            <a:r>
              <a:rPr lang="en-US" dirty="0"/>
              <a:t>1 → </a:t>
            </a:r>
            <a:r>
              <a:rPr lang="en-US" dirty="0" err="1"/>
              <a:t>Internship_Experience</a:t>
            </a:r>
            <a:r>
              <a:rPr lang="en-US" dirty="0"/>
              <a:t> &gt; 0</a:t>
            </a:r>
          </a:p>
          <a:p>
            <a:pPr lvl="1"/>
            <a:r>
              <a:rPr lang="en-US" dirty="0"/>
              <a:t>0 → No internship experience</a:t>
            </a:r>
          </a:p>
          <a:p>
            <a:r>
              <a:rPr lang="en-US" b="1" dirty="0" err="1"/>
              <a:t>Technical_Skill_Score</a:t>
            </a:r>
            <a:r>
              <a:rPr lang="en-US" b="1" dirty="0"/>
              <a:t> (Refined Feature)</a:t>
            </a:r>
            <a:endParaRPr lang="en-US" dirty="0"/>
          </a:p>
          <a:p>
            <a:pPr lvl="1"/>
            <a:r>
              <a:rPr lang="en-US" dirty="0"/>
              <a:t>Normalized and standardized version of technical skill values</a:t>
            </a:r>
          </a:p>
          <a:p>
            <a:pPr lvl="1"/>
            <a:r>
              <a:rPr lang="en-US" dirty="0"/>
              <a:t>Ensures fair contribution during model training</a:t>
            </a:r>
          </a:p>
          <a:p>
            <a:pPr lvl="1"/>
            <a:r>
              <a:rPr lang="en-US" dirty="0"/>
              <a:t>Helps in accurate job-role suitability assessment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6714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A586-4F75-81A9-5E15-11D3C45E9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Step 1: Data Inspection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34F3BC-FD50-51DD-EDC8-4ED9E525E3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9863" y="2135933"/>
            <a:ext cx="10086474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dataset shape and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data types of all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consistency of numeric and categorical fields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Confirmed dataset suitability for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00957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F3B52-4A45-4CDA-41D8-F66C776C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Step 2: Missing Value Analysis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16A71A-3190-6BBB-4A7D-D210B205BE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5"/>
            <a:ext cx="850264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Checked for null or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contained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imputation techniques were required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data completeness</a:t>
            </a:r>
          </a:p>
        </p:txBody>
      </p:sp>
    </p:spTree>
    <p:extLst>
      <p:ext uri="{BB962C8B-B14F-4D97-AF65-F5344CB8AC3E}">
        <p14:creationId xmlns:p14="http://schemas.microsoft.com/office/powerpoint/2010/main" val="517212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7313-346D-140F-F0AF-A9D2F1920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Step 3: Outlier Detection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736D81-82D2-6A3E-AE7B-55F7647232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4"/>
            <a:ext cx="838883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distributions of numerical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extreme values where applicable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that outliers represented valid data points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outliers were removed to avoid information loss</a:t>
            </a:r>
          </a:p>
        </p:txBody>
      </p:sp>
    </p:spTree>
    <p:extLst>
      <p:ext uri="{BB962C8B-B14F-4D97-AF65-F5344CB8AC3E}">
        <p14:creationId xmlns:p14="http://schemas.microsoft.com/office/powerpoint/2010/main" val="395419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0143-CA7B-07A1-C81F-0D75A7F13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 Step 4: Feature Engineering</a:t>
            </a:r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C12B93-6B80-479D-39F3-40F6756225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4"/>
            <a:ext cx="9169498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Internship_Flag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placement status into numeric label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Ensured features captured real-world placement factors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model ambiguity</a:t>
            </a:r>
          </a:p>
        </p:txBody>
      </p:sp>
    </p:spTree>
    <p:extLst>
      <p:ext uri="{BB962C8B-B14F-4D97-AF65-F5344CB8AC3E}">
        <p14:creationId xmlns:p14="http://schemas.microsoft.com/office/powerpoint/2010/main" val="248382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B0CF6-FB5F-65BC-9D08-BCAD8E8F8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Step 5: Feature Selection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D6460-3274-E93D-66EE-0411CE0FC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Final input features used for training:</a:t>
            </a:r>
          </a:p>
          <a:p>
            <a:r>
              <a:rPr lang="en-IN" dirty="0"/>
              <a:t>CGPA</a:t>
            </a:r>
          </a:p>
          <a:p>
            <a:r>
              <a:rPr lang="en-IN" dirty="0" err="1"/>
              <a:t>Internship_Experience</a:t>
            </a:r>
            <a:endParaRPr lang="en-IN" dirty="0"/>
          </a:p>
          <a:p>
            <a:r>
              <a:rPr lang="en-IN" dirty="0" err="1"/>
              <a:t>Internship_Flag</a:t>
            </a:r>
            <a:endParaRPr lang="en-IN" dirty="0"/>
          </a:p>
          <a:p>
            <a:r>
              <a:rPr lang="en-IN" dirty="0"/>
              <a:t>Projects</a:t>
            </a:r>
          </a:p>
          <a:p>
            <a:r>
              <a:rPr lang="en-IN" dirty="0"/>
              <a:t>Certifications</a:t>
            </a:r>
          </a:p>
          <a:p>
            <a:r>
              <a:rPr lang="en-IN" dirty="0" err="1"/>
              <a:t>AptitudeTestScore</a:t>
            </a:r>
            <a:endParaRPr lang="en-IN" dirty="0"/>
          </a:p>
          <a:p>
            <a:r>
              <a:rPr lang="en-IN" dirty="0" err="1"/>
              <a:t>Communication_Skills</a:t>
            </a:r>
            <a:endParaRPr lang="en-IN" dirty="0"/>
          </a:p>
          <a:p>
            <a:r>
              <a:rPr lang="en-IN" dirty="0" err="1"/>
              <a:t>Technical_Skills</a:t>
            </a:r>
            <a:endParaRPr lang="en-IN" dirty="0"/>
          </a:p>
          <a:p>
            <a:r>
              <a:rPr lang="en-IN" dirty="0"/>
              <a:t>Target variable:</a:t>
            </a:r>
          </a:p>
          <a:p>
            <a:r>
              <a:rPr lang="en-IN" dirty="0" err="1"/>
              <a:t>Placement_Label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526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78ED5-292B-9CB1-B7BD-429D24A2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Step 6: Feature Scaling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E056-7BFB-F273-9455-E74ECED9B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</a:t>
            </a:r>
            <a:r>
              <a:rPr lang="en-US" b="1" dirty="0" err="1"/>
              <a:t>StandardScaler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Ensured all numerical features had:</a:t>
            </a:r>
          </a:p>
          <a:p>
            <a:pPr lvl="1"/>
            <a:r>
              <a:rPr lang="en-US" sz="2800" dirty="0"/>
              <a:t>Mean ≈ 0</a:t>
            </a:r>
          </a:p>
          <a:p>
            <a:pPr lvl="1"/>
            <a:r>
              <a:rPr lang="en-US" sz="2800" dirty="0"/>
              <a:t>Standard deviation ≈ 1</a:t>
            </a:r>
          </a:p>
          <a:p>
            <a:pPr lvl="1"/>
            <a:endParaRPr lang="en-US" sz="2800" dirty="0"/>
          </a:p>
          <a:p>
            <a:r>
              <a:rPr lang="en-US" dirty="0"/>
              <a:t>Prevented dominance of high-value features</a:t>
            </a:r>
          </a:p>
          <a:p>
            <a:r>
              <a:rPr lang="en-US" dirty="0"/>
              <a:t>Essential for distance-based and linear models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9132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15BB-63C6-9F86-66BE-C8FF953D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Models Compared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AFE4C-5E7E-8D5E-5E8C-CF156E600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Six supervised classification models were trained: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Decision Tree</a:t>
            </a:r>
          </a:p>
          <a:p>
            <a:r>
              <a:rPr lang="en-US" dirty="0"/>
              <a:t>Support Vector Machine (SVM)</a:t>
            </a:r>
          </a:p>
          <a:p>
            <a:r>
              <a:rPr lang="en-US" dirty="0"/>
              <a:t>K-Nearest Neighbors (KNN)</a:t>
            </a:r>
          </a:p>
          <a:p>
            <a:r>
              <a:rPr lang="en-US" dirty="0"/>
              <a:t>Random Forest</a:t>
            </a:r>
          </a:p>
          <a:p>
            <a:r>
              <a:rPr lang="en-US" b="1" dirty="0" err="1"/>
              <a:t>CatBoost</a:t>
            </a:r>
            <a:r>
              <a:rPr lang="en-US" b="1" dirty="0"/>
              <a:t> (Gradient Boosting)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All models were trained using the same preprocessed dataset to ensure fair comparison.</a:t>
            </a:r>
          </a:p>
        </p:txBody>
      </p:sp>
    </p:spTree>
    <p:extLst>
      <p:ext uri="{BB962C8B-B14F-4D97-AF65-F5344CB8AC3E}">
        <p14:creationId xmlns:p14="http://schemas.microsoft.com/office/powerpoint/2010/main" val="812544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11C62-14EC-60B0-8105-B472473B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1750E-471C-594A-3718-A4D8E70C8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Models were evaluated using:</a:t>
            </a:r>
          </a:p>
          <a:p>
            <a:r>
              <a:rPr lang="en-US" dirty="0"/>
              <a:t>Accuracy</a:t>
            </a:r>
          </a:p>
          <a:p>
            <a:r>
              <a:rPr lang="en-US" dirty="0"/>
              <a:t>Precision</a:t>
            </a:r>
          </a:p>
          <a:p>
            <a:r>
              <a:rPr lang="en-US" b="1" dirty="0"/>
              <a:t>Recall (Placed Students)</a:t>
            </a:r>
            <a:endParaRPr lang="en-US" dirty="0"/>
          </a:p>
          <a:p>
            <a:r>
              <a:rPr lang="en-US" b="1" dirty="0"/>
              <a:t>F1-Score</a:t>
            </a:r>
            <a:endParaRPr lang="en-US" dirty="0"/>
          </a:p>
          <a:p>
            <a:r>
              <a:rPr lang="en-US" dirty="0"/>
              <a:t>ROC-AUC Score</a:t>
            </a:r>
          </a:p>
          <a:p>
            <a:r>
              <a:rPr lang="en-US" dirty="0"/>
              <a:t>Confusion Matrix</a:t>
            </a:r>
          </a:p>
          <a:p>
            <a:r>
              <a:rPr lang="en-US" dirty="0"/>
              <a:t>Cross-Validation</a:t>
            </a:r>
          </a:p>
          <a:p>
            <a:pPr marL="0" indent="0">
              <a:buNone/>
            </a:pPr>
            <a:r>
              <a:rPr lang="en-US" b="1" dirty="0"/>
              <a:t>Key Decision Criteria:</a:t>
            </a:r>
          </a:p>
          <a:p>
            <a:pPr marL="0" indent="0">
              <a:buNone/>
            </a:pPr>
            <a:r>
              <a:rPr lang="en-US" dirty="0"/>
              <a:t> Special emphasis was placed on:</a:t>
            </a:r>
          </a:p>
          <a:p>
            <a:r>
              <a:rPr lang="en-US" b="1" dirty="0"/>
              <a:t>Recall</a:t>
            </a:r>
            <a:r>
              <a:rPr lang="en-US" dirty="0"/>
              <a:t> → Minimize false negatives</a:t>
            </a:r>
          </a:p>
          <a:p>
            <a:r>
              <a:rPr lang="en-US" b="1" dirty="0"/>
              <a:t>F1-Score</a:t>
            </a:r>
            <a:r>
              <a:rPr lang="en-US" dirty="0"/>
              <a:t> → Balance between precision &amp; recall</a:t>
            </a:r>
          </a:p>
          <a:p>
            <a:pPr marL="0" indent="0">
              <a:buNone/>
            </a:pPr>
            <a:r>
              <a:rPr lang="en-US" dirty="0"/>
              <a:t> In placement prediction, failing to identify a placed student is more costly.</a:t>
            </a:r>
          </a:p>
        </p:txBody>
      </p:sp>
    </p:spTree>
    <p:extLst>
      <p:ext uri="{BB962C8B-B14F-4D97-AF65-F5344CB8AC3E}">
        <p14:creationId xmlns:p14="http://schemas.microsoft.com/office/powerpoint/2010/main" val="3468029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6F862-ACFC-8A20-880F-AF0291742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Selected Model: </a:t>
            </a:r>
            <a:r>
              <a:rPr lang="en-IN" b="1" dirty="0" err="1"/>
              <a:t>CatBoost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26BA75-4669-3589-231B-1CD6152FD7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3494"/>
            <a:ext cx="11094897" cy="4535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3200" dirty="0" err="1"/>
              <a:t>CatBoost</a:t>
            </a:r>
            <a:r>
              <a:rPr lang="en-US" sz="3200" dirty="0"/>
              <a:t> was selected based on:</a:t>
            </a:r>
          </a:p>
          <a:p>
            <a:r>
              <a:rPr lang="en-US" sz="3200" dirty="0"/>
              <a:t>Highest Recall (0.6311)</a:t>
            </a:r>
          </a:p>
          <a:p>
            <a:r>
              <a:rPr lang="en-US" sz="3200" dirty="0"/>
              <a:t>Competitive F1-Score (0.6620)</a:t>
            </a:r>
          </a:p>
          <a:p>
            <a:r>
              <a:rPr lang="en-US" sz="3200" dirty="0"/>
              <a:t>Strong ROC-AUC (0.8107)</a:t>
            </a:r>
          </a:p>
          <a:p>
            <a:r>
              <a:rPr lang="en-US" sz="3200" dirty="0"/>
              <a:t>Stable Cross-Validation (0.7575)</a:t>
            </a:r>
          </a:p>
          <a:p>
            <a:r>
              <a:rPr lang="en-US" sz="3200" dirty="0"/>
              <a:t>Acceptable generalization (≈6% train-test gap)</a:t>
            </a:r>
          </a:p>
          <a:p>
            <a:pPr marL="0" indent="0">
              <a:buNone/>
            </a:pPr>
            <a:r>
              <a:rPr lang="en-US" sz="3200" dirty="0"/>
              <a:t>Although Random Forest showed slightly higher F1-score, </a:t>
            </a:r>
          </a:p>
          <a:p>
            <a:pPr marL="0" indent="0">
              <a:buNone/>
            </a:pPr>
            <a:r>
              <a:rPr lang="en-US" sz="3200" dirty="0" err="1"/>
              <a:t>CatBoost</a:t>
            </a:r>
            <a:r>
              <a:rPr lang="en-US" sz="3200" dirty="0"/>
              <a:t> achieved better recall, aligning with project objectives.</a:t>
            </a:r>
          </a:p>
        </p:txBody>
      </p:sp>
    </p:spTree>
    <p:extLst>
      <p:ext uri="{BB962C8B-B14F-4D97-AF65-F5344CB8AC3E}">
        <p14:creationId xmlns:p14="http://schemas.microsoft.com/office/powerpoint/2010/main" val="1389969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36123-8C3F-AAB2-5A39-2153BA61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&amp; Prediction Logic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02767C-483E-B7D1-D74F-663D080B27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32040"/>
            <a:ext cx="9136117" cy="4826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Key Insights</a:t>
            </a:r>
          </a:p>
          <a:p>
            <a:r>
              <a:rPr lang="en-US" sz="2000" dirty="0"/>
              <a:t>Most Influential Features:</a:t>
            </a:r>
          </a:p>
          <a:p>
            <a:r>
              <a:rPr lang="en-US" sz="2000" dirty="0"/>
              <a:t>Aptitude Test Score</a:t>
            </a:r>
          </a:p>
          <a:p>
            <a:r>
              <a:rPr lang="en-US" sz="2000" dirty="0"/>
              <a:t>CGPA</a:t>
            </a:r>
          </a:p>
          <a:p>
            <a:r>
              <a:rPr lang="en-US" sz="2000" dirty="0"/>
              <a:t>Communication Skills</a:t>
            </a:r>
          </a:p>
          <a:p>
            <a:r>
              <a:rPr lang="en-US" sz="2000" dirty="0"/>
              <a:t>Technical Skills</a:t>
            </a:r>
          </a:p>
          <a:p>
            <a:r>
              <a:rPr lang="en-US" sz="2000" b="1" dirty="0"/>
              <a:t>Prediction Logic</a:t>
            </a:r>
          </a:p>
          <a:p>
            <a:r>
              <a:rPr lang="en-US" sz="2000" dirty="0"/>
              <a:t>Model outputs probability (0–1)</a:t>
            </a:r>
          </a:p>
          <a:p>
            <a:r>
              <a:rPr lang="en-US" sz="2000" dirty="0"/>
              <a:t>≥ 0.5 → Placed</a:t>
            </a:r>
          </a:p>
          <a:p>
            <a:r>
              <a:rPr lang="en-US" sz="2000" dirty="0"/>
              <a:t>&lt; 0.5 → Not Placed</a:t>
            </a:r>
          </a:p>
          <a:p>
            <a:r>
              <a:rPr lang="en-US" sz="2000" dirty="0"/>
              <a:t>The probability score indicates prediction confidence.</a:t>
            </a:r>
          </a:p>
          <a:p>
            <a:r>
              <a:rPr lang="en-US" sz="2000" dirty="0"/>
              <a:t>The final model was serialized using </a:t>
            </a:r>
            <a:r>
              <a:rPr lang="en-US" sz="2000" dirty="0" err="1"/>
              <a:t>joblib</a:t>
            </a:r>
            <a:r>
              <a:rPr lang="en-US" sz="2000" dirty="0"/>
              <a:t> for deployment.</a:t>
            </a:r>
          </a:p>
        </p:txBody>
      </p:sp>
    </p:spTree>
    <p:extLst>
      <p:ext uri="{BB962C8B-B14F-4D97-AF65-F5344CB8AC3E}">
        <p14:creationId xmlns:p14="http://schemas.microsoft.com/office/powerpoint/2010/main" val="68818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F387-65B0-294A-0B07-40F96FE18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</a:t>
            </a:r>
            <a:r>
              <a:rPr lang="en-IN" dirty="0" err="1"/>
              <a:t>OutputS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43CB5-0E4B-4BCE-21C9-0810C3D88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student:</a:t>
            </a:r>
          </a:p>
          <a:p>
            <a:r>
              <a:rPr lang="en-US" dirty="0"/>
              <a:t>Placement Prediction (Placed / Not Placed)</a:t>
            </a:r>
          </a:p>
          <a:p>
            <a:r>
              <a:rPr lang="en-US" dirty="0"/>
              <a:t>Placement Probability Percentage</a:t>
            </a:r>
          </a:p>
          <a:p>
            <a:r>
              <a:rPr lang="en-US" dirty="0"/>
              <a:t>Job Role Suitability Evaluation</a:t>
            </a:r>
          </a:p>
          <a:p>
            <a:pPr marL="0" indent="0">
              <a:buNone/>
            </a:pPr>
            <a:r>
              <a:rPr lang="en-US" dirty="0"/>
              <a:t>    .Rule based evaluation</a:t>
            </a:r>
          </a:p>
          <a:p>
            <a:pPr marL="0" indent="0">
              <a:buNone/>
            </a:pPr>
            <a:r>
              <a:rPr lang="en-US" dirty="0"/>
              <a:t>    . Compares student skills against job role criteria</a:t>
            </a:r>
          </a:p>
          <a:p>
            <a:pPr marL="0" indent="0">
              <a:buNone/>
            </a:pPr>
            <a:r>
              <a:rPr lang="en-US" dirty="0"/>
              <a:t>    . Determines eligibility for predefined job roles</a:t>
            </a:r>
          </a:p>
          <a:p>
            <a:pPr marL="0" indent="0">
              <a:buNone/>
            </a:pPr>
            <a:r>
              <a:rPr lang="en-US" dirty="0"/>
              <a:t>    . Act as career guidance support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7606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13418-6F11-2502-1B35-8D3C27EB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Creation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A61853-0BB7-EFE0-1BD1-8C17DA5534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93134"/>
            <a:ext cx="1027076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database named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student_placement_db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created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database is selected using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tables related to the placement system are stored inside this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data is organized in a single 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easy maintenance and future expansion</a:t>
            </a:r>
          </a:p>
        </p:txBody>
      </p:sp>
    </p:spTree>
    <p:extLst>
      <p:ext uri="{BB962C8B-B14F-4D97-AF65-F5344CB8AC3E}">
        <p14:creationId xmlns:p14="http://schemas.microsoft.com/office/powerpoint/2010/main" val="719061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3B7C9-C690-4225-AB61-934329521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Management Table (users)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B75AEC-19F5-66A4-BC9B-8F2F9B1BD6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2"/>
            <a:ext cx="848501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is created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details of both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and teachers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user has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field is unique to avoid duplicate accounts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field defines access level (student / teacher)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Passwords are stored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encrypted (hashed) form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Creation time is recorded automatically</a:t>
            </a:r>
          </a:p>
        </p:txBody>
      </p:sp>
    </p:spTree>
    <p:extLst>
      <p:ext uri="{BB962C8B-B14F-4D97-AF65-F5344CB8AC3E}">
        <p14:creationId xmlns:p14="http://schemas.microsoft.com/office/powerpoint/2010/main" val="848363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3B54-B77F-80C4-AB08-9C41BCB9D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Student Details Table (students)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B2B06F-97BB-6F94-689D-113874C6F9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31579"/>
            <a:ext cx="1002710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is created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 to the users table using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user_id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(foreign key)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academic details like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CGPA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internship experience and internship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project count and certification 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aptitude score and skill ratings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Creation time is recorded for tracking records</a:t>
            </a:r>
          </a:p>
        </p:txBody>
      </p:sp>
    </p:spTree>
    <p:extLst>
      <p:ext uri="{BB962C8B-B14F-4D97-AF65-F5344CB8AC3E}">
        <p14:creationId xmlns:p14="http://schemas.microsoft.com/office/powerpoint/2010/main" val="2655804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C7EF-D12B-A9FB-D8AF-A8C7AE87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Prediction &amp; Job Role Tables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8950B4-3C0D-E257-D183-F59C818534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85357"/>
            <a:ext cx="989963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predictions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is created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placement prediction (Placed / Not Placed)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placement probability generated by ML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model version for future reference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job_role_results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is created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job role names and eligibility status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suitability score for each job role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tables are linked using foreign keys</a:t>
            </a:r>
          </a:p>
        </p:txBody>
      </p:sp>
    </p:spTree>
    <p:extLst>
      <p:ext uri="{BB962C8B-B14F-4D97-AF65-F5344CB8AC3E}">
        <p14:creationId xmlns:p14="http://schemas.microsoft.com/office/powerpoint/2010/main" val="3145788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F7279-0B8A-98BB-8899-76C3793F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Bulk Upload &amp; Final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FC5186-EB97-DECF-6373-FCF311EBCE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47022"/>
            <a:ext cx="1034610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bulk_uploads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table is created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teachers to upload student data in bulk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file name and number of records uploaded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processed and unprocessed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upload status (Pending, Processing, Completed, Failed)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tables are connected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foreign key relationships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database structure supports full system workflow</a:t>
            </a:r>
          </a:p>
        </p:txBody>
      </p:sp>
    </p:spTree>
    <p:extLst>
      <p:ext uri="{BB962C8B-B14F-4D97-AF65-F5344CB8AC3E}">
        <p14:creationId xmlns:p14="http://schemas.microsoft.com/office/powerpoint/2010/main" val="3970963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4357-2A25-7944-9ADB-52005545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IN" b="1" dirty="0"/>
              <a:t>Submitted By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7B754-B050-B69F-B473-9F45266E7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>
              <a:buNone/>
            </a:pPr>
            <a:r>
              <a:rPr lang="en-IN" b="1" dirty="0"/>
              <a:t>FATHIMA SUHA</a:t>
            </a:r>
            <a:endParaRPr lang="en-IN" dirty="0"/>
          </a:p>
          <a:p>
            <a:pPr marL="0" indent="0" algn="r">
              <a:buNone/>
            </a:pPr>
            <a:r>
              <a:rPr lang="en-IN" b="1" dirty="0"/>
              <a:t>LAAMIAH SULTHANA</a:t>
            </a:r>
            <a:endParaRPr lang="en-IN" dirty="0"/>
          </a:p>
          <a:p>
            <a:pPr marL="0" indent="0" algn="r">
              <a:buNone/>
            </a:pPr>
            <a:r>
              <a:rPr lang="en-IN" b="1" dirty="0"/>
              <a:t>DEVADYUTHI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436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985</Words>
  <Application>Microsoft Office PowerPoint</Application>
  <PresentationFormat>Widescreen</PresentationFormat>
  <Paragraphs>206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Unicode MS</vt:lpstr>
      <vt:lpstr>Calibri</vt:lpstr>
      <vt:lpstr>Calibri Light</vt:lpstr>
      <vt:lpstr>Office Theme</vt:lpstr>
      <vt:lpstr>Intelligent Student Placement Prediction System</vt:lpstr>
      <vt:lpstr>Project Objective </vt:lpstr>
      <vt:lpstr>Problem Statement</vt:lpstr>
      <vt:lpstr>Dataset Overview</vt:lpstr>
      <vt:lpstr>Original Dataset Features</vt:lpstr>
      <vt:lpstr>Features Added During Preprocessing</vt:lpstr>
      <vt:lpstr>Preprocessing Step 1: Data Inspection</vt:lpstr>
      <vt:lpstr>Preprocessing Step 2: Missing Value Analysis</vt:lpstr>
      <vt:lpstr>Preprocessing Step 3: Outlier Detection</vt:lpstr>
      <vt:lpstr>Preprocessing Step 4: Feature Engineering</vt:lpstr>
      <vt:lpstr>Preprocessing Step 5: Feature Selection</vt:lpstr>
      <vt:lpstr>Preprocessing Step 6: Feature Scaling</vt:lpstr>
      <vt:lpstr>Machine Learning Models Compared</vt:lpstr>
      <vt:lpstr>Model Evaluation Metrics</vt:lpstr>
      <vt:lpstr>Selected Model: CatBoost </vt:lpstr>
      <vt:lpstr>Insights &amp; Prediction Logic</vt:lpstr>
      <vt:lpstr>Project OutputS</vt:lpstr>
      <vt:lpstr>Database Creation</vt:lpstr>
      <vt:lpstr>User Management Table (users)</vt:lpstr>
      <vt:lpstr>Student Details Table (students)</vt:lpstr>
      <vt:lpstr>Prediction &amp; Job Role Tables</vt:lpstr>
      <vt:lpstr>Bulk Upload &amp; Final Integration</vt:lpstr>
      <vt:lpstr>Submitted By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devadyuthi s</dc:creator>
  <cp:lastModifiedBy>laamiah sulthana</cp:lastModifiedBy>
  <cp:revision>3</cp:revision>
  <dcterms:created xsi:type="dcterms:W3CDTF">2026-02-08T16:57:09Z</dcterms:created>
  <dcterms:modified xsi:type="dcterms:W3CDTF">2026-02-17T16:39:34Z</dcterms:modified>
</cp:coreProperties>
</file>